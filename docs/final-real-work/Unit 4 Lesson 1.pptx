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3"/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Architects Daughter"/>
      <p:regular r:id="rId30"/>
    </p:embeddedFont>
    <p:embeddedFont>
      <p:font typeface="Montserrat Black"/>
      <p:bold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Cherry Cream Soda"/>
      <p:regular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5.xml"/><Relationship Id="rId41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Black-bold.fntdata"/><Relationship Id="rId30" Type="http://schemas.openxmlformats.org/officeDocument/2006/relationships/font" Target="fonts/ArchitectsDaughter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Black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CherryCreamSoda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88aa2dffb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88aa2dffb6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8981d34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8981d344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88aa2df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88aa2dff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88aa2dff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88aa2dffb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a556245d0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595" name="Google Shape;595;g3a556245d09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953cd28e8c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953cd28e8c_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53cd28e8c_1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953cd28e8c_1_1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556245d09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a556245d09_0_3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556245d09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a556245d09_0_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556245d09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a556245d09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556245d0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a556245d09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556245d09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a556245d09_0_3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556245d09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a556245d09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556245d09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a556245d09_0_9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556245d0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a556245d0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g3a556245d09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a556245d09_0_3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a556245d09_0_3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a556245d09_0_3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556245d0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a556245d09_0_6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556245d0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a556245d09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953cd28e8c_1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953cd28e8c_1_1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953cd28e8c_1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953cd28e8c_1_1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556245d09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a556245d09_0_10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746079325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746079325e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58.png"/><Relationship Id="rId6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58.png"/><Relationship Id="rId6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" name="Google Shape;14;p2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15" name="Google Shape;15;p2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" name="Google Shape;17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4">
                <a:alphaModFix/>
              </a:blip>
              <a:srcRect b="10669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32;p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" name="Google Shape;34;p3"/>
              <p:cNvCxnSpPr>
                <a:stCxn id="35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5" name="Google Shape;35;p3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" name="Google Shape;45;p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5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5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5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" name="Google Shape;57;p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66" name="Google Shape;66;p6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70" name="Google Shape;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" name="Google Shape;71;p6"/>
              <p:cNvCxnSpPr>
                <a:stCxn id="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72" name="Google Shape;72;p6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83" name="Google Shape;83;p7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8" name="Google Shape;88;p7"/>
              <p:cNvCxnSpPr>
                <a:stCxn id="8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89" name="Google Shape;89;p7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1" name="Google Shape;101;p8"/>
              <p:cNvCxnSpPr>
                <a:stCxn id="10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02" name="Google Shape;102;p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09" name="Google Shape;109;p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10" name="Google Shape;110;p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12" name="Google Shape;11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" name="Google Shape;113;p9"/>
              <p:cNvCxnSpPr>
                <a:stCxn id="11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14" name="Google Shape;114;p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23" name="Google Shape;123;p1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24" name="Google Shape;124;p1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25" name="Google Shape;125;p1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27" name="Google Shape;12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" name="Google Shape;128;p10"/>
              <p:cNvCxnSpPr>
                <a:stCxn id="12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1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11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38" name="Google Shape;138;p1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39" name="Google Shape;139;p1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40" name="Google Shape;140;p1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42" name="Google Shape;142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3" name="Google Shape;143;p11"/>
              <p:cNvCxnSpPr>
                <a:stCxn id="1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1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52" name="Google Shape;152;p1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53" name="Google Shape;153;p1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54" name="Google Shape;154;p1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56" name="Google Shape;156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7" name="Google Shape;157;p12"/>
              <p:cNvCxnSpPr>
                <a:stCxn id="158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58" name="Google Shape;158;p1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66" name="Google Shape;166;p1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67" name="Google Shape;167;p1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1" name="Google Shape;171;p13"/>
              <p:cNvCxnSpPr>
                <a:stCxn id="1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72" name="Google Shape;172;p1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4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4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1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15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218" name="Google Shape;218;p16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19" name="Google Shape;219;p16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220" name="Google Shape;220;p16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1" name="Google Shape;221;p16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222" name="Google Shape;222;p16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3" name="Google Shape;223;p16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p16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7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7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236" name="Google Shape;236;p1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8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8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zh-CN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245" name="Google Shape;245;p18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7" name="Google Shape;247;p18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252" name="Google Shape;252;p19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1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 txBox="1"/>
          <p:nvPr/>
        </p:nvSpPr>
        <p:spPr>
          <a:xfrm>
            <a:off x="533401" y="1819039"/>
            <a:ext cx="77508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3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CONTACT</a:t>
            </a:r>
            <a:endParaRPr sz="900"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0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267" name="Google Shape;267;p2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8" name="Google Shape;268;p21"/>
              <p:cNvCxnSpPr>
                <a:stCxn id="26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269" name="Google Shape;269;p21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21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24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4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6" name="Google Shape;286;p24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287" name="Google Shape;287;p24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4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89" name="Google Shape;289;p24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97" name="Google Shape;297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98" name="Google Shape;298;p25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5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1" name="Google Shape;301;p25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2" name="Google Shape;302;p25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03" name="Google Shape;303;p25"/>
              <p:cNvPicPr preferRelativeResize="0"/>
              <p:nvPr/>
            </p:nvPicPr>
            <p:blipFill rotWithShape="1">
              <a:blip r:embed="rId4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" name="Google Shape;304;p25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05" name="Google Shape;305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06" name="Google Shape;306;p25"/>
              <p:cNvCxnSpPr>
                <a:stCxn id="307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07" name="Google Shape;307;p25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8" name="Google Shape;308;p2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5" name="Google Shape;315;p26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26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7" name="Google Shape;317;p26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5" name="Google Shape;325;p27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7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7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9" name="Google Shape;329;p2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36" name="Google Shape;336;p2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37" name="Google Shape;337;p2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338" name="Google Shape;338;p2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39" name="Google Shape;339;p2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40" name="Google Shape;340;p2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" name="Google Shape;341;p2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42" name="Google Shape;342;p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3" name="Google Shape;343;p28"/>
              <p:cNvCxnSpPr>
                <a:stCxn id="3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44" name="Google Shape;344;p2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5" name="Google Shape;345;p2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1" name="Google Shape;351;p29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2" name="Google Shape;352;p29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53" name="Google Shape;353;p29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4" name="Google Shape;354;p29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355" name="Google Shape;355;p2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56" name="Google Shape;356;p2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57" name="Google Shape;357;p2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8" name="Google Shape;358;p2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59" name="Google Shape;359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60" name="Google Shape;360;p29"/>
              <p:cNvCxnSpPr>
                <a:stCxn id="361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61" name="Google Shape;361;p2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2" name="Google Shape;362;p2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68" name="Google Shape;368;p3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69" name="Google Shape;369;p3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70" name="Google Shape;370;p3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1" name="Google Shape;371;p3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72" name="Google Shape;372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73" name="Google Shape;373;p30"/>
              <p:cNvCxnSpPr>
                <a:stCxn id="37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74" name="Google Shape;374;p3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5" name="Google Shape;375;p3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3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81" name="Google Shape;381;p3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82" name="Google Shape;382;p3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" name="Google Shape;383;p3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84" name="Google Shape;384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85" name="Google Shape;385;p31"/>
              <p:cNvCxnSpPr>
                <a:stCxn id="386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86" name="Google Shape;386;p3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3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3" name="Google Shape;393;p32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4" name="Google Shape;394;p3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395" name="Google Shape;395;p3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96" name="Google Shape;396;p3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97" name="Google Shape;397;p3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8" name="Google Shape;398;p3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99" name="Google Shape;399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00" name="Google Shape;400;p32"/>
              <p:cNvCxnSpPr>
                <a:stCxn id="401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401" name="Google Shape;401;p3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p3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08" name="Google Shape;408;p33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3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410" name="Google Shape;410;p3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411" name="Google Shape;411;p3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412" name="Google Shape;412;p3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3" name="Google Shape;413;p3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414" name="Google Shape;414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15" name="Google Shape;415;p33"/>
              <p:cNvCxnSpPr>
                <a:stCxn id="416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416" name="Google Shape;416;p3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p3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425" name="Google Shape;425;p34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426" name="Google Shape;426;p34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7" name="Google Shape;427;p34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428" name="Google Shape;428;p3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29" name="Google Shape;429;p34"/>
              <p:cNvCxnSpPr>
                <a:stCxn id="430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430" name="Google Shape;430;p34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1" name="Google Shape;431;p3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7" name="Google Shape;437;p3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438" name="Google Shape;438;p35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439" name="Google Shape;439;p35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440" name="Google Shape;440;p35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1" name="Google Shape;441;p35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442" name="Google Shape;442;p3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43" name="Google Shape;443;p35"/>
              <p:cNvCxnSpPr>
                <a:stCxn id="4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444" name="Google Shape;444;p35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5" name="Google Shape;445;p3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36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36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p36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6" name="Google Shape;456;p36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63" name="Google Shape;463;p37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4" name="Google Shape;464;p37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37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37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3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8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4" name="Google Shape;474;p38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475" name="Google Shape;475;p38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476" name="Google Shape;476;p38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38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478" name="Google Shape;478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38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481" name="Google Shape;481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38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484" name="Google Shape;484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38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7" name="Google Shape;487;p38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9" name="Google Shape;489;p38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490" name="Google Shape;490;p38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491" name="Google Shape;491;p38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492" name="Google Shape;492;p38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493" name="Google Shape;493;p38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494" name="Google Shape;494;p38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495" name="Google Shape;495;p38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96" name="Google Shape;496;p38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39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503" name="Google Shape;503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9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39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6" name="Google Shape;506;p39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7" name="Google Shape;507;p39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508" name="Google Shape;508;p3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3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3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0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5" name="Google Shape;515;p40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6" name="Google Shape;516;p40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zh-CN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517" name="Google Shape;517;p40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40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19" name="Google Shape;519;p4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41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41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524" name="Google Shape;524;p41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25" name="Google Shape;525;p41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2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8" name="Google Shape;528;p42"/>
          <p:cNvSpPr txBox="1"/>
          <p:nvPr/>
        </p:nvSpPr>
        <p:spPr>
          <a:xfrm>
            <a:off x="0" y="2637100"/>
            <a:ext cx="79170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000">
                <a:solidFill>
                  <a:srgbClr val="20346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再见</a:t>
            </a:r>
            <a:endParaRPr b="1" sz="15000">
              <a:solidFill>
                <a:srgbClr val="203468"/>
              </a:solidFill>
            </a:endParaRPr>
          </a:p>
        </p:txBody>
      </p:sp>
      <p:grpSp>
        <p:nvGrpSpPr>
          <p:cNvPr id="529" name="Google Shape;529;p42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530" name="Google Shape;530;p4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2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2" name="Google Shape;532;p42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33" name="Google Shape;533;p42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3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6" name="Google Shape;536;p43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537" name="Google Shape;537;p4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538" name="Google Shape;538;p43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539" name="Google Shape;539;p4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40" name="Google Shape;540;p43"/>
              <p:cNvCxnSpPr>
                <a:stCxn id="541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541" name="Google Shape;541;p43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2" name="Google Shape;542;p43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545" name="Google Shape;545;p44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546" name="Google Shape;54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4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32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0.xml"/><Relationship Id="rId6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79" name="Google Shape;279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4.png"/><Relationship Id="rId4" Type="http://schemas.openxmlformats.org/officeDocument/2006/relationships/image" Target="../media/image4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5.png"/><Relationship Id="rId4" Type="http://schemas.openxmlformats.org/officeDocument/2006/relationships/image" Target="../media/image4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6.png"/><Relationship Id="rId4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0.png"/><Relationship Id="rId4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hyperlink" Target="https://wordwall.net/play/101849/706/473" TargetMode="External"/><Relationship Id="rId6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5"/>
          <p:cNvSpPr txBox="1"/>
          <p:nvPr/>
        </p:nvSpPr>
        <p:spPr>
          <a:xfrm>
            <a:off x="2115375" y="25520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Unit 4 lesson 1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45"/>
          <p:cNvSpPr txBox="1"/>
          <p:nvPr/>
        </p:nvSpPr>
        <p:spPr>
          <a:xfrm>
            <a:off x="2207625" y="35063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三个苹果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点名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Diǎnmíng</a:t>
            </a:r>
            <a:endParaRPr sz="2750">
              <a:solidFill>
                <a:srgbClr val="002060"/>
              </a:solidFill>
            </a:endParaRPr>
          </a:p>
        </p:txBody>
      </p:sp>
      <p:pic>
        <p:nvPicPr>
          <p:cNvPr id="560" name="Google Shape;560;p46" title="Ảnh chụp Màn hình 2025-08-20 lúc 12.0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42263" y="329350"/>
            <a:ext cx="6338551" cy="5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6" name="Google Shape;566;p47"/>
          <p:cNvPicPr preferRelativeResize="0"/>
          <p:nvPr/>
        </p:nvPicPr>
        <p:blipFill rotWithShape="1">
          <a:blip r:embed="rId3">
            <a:alphaModFix/>
          </a:blip>
          <a:srcRect b="35055" l="7630" r="6348" t="36099"/>
          <a:stretch/>
        </p:blipFill>
        <p:spPr>
          <a:xfrm rot="5400000">
            <a:off x="2667125" y="2151450"/>
            <a:ext cx="4828725" cy="22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7" title="Ảnh chụp Màn hình 2025-08-15 lúc 13.3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41313" y="1627856"/>
            <a:ext cx="2216497" cy="28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7"/>
          <p:cNvSpPr txBox="1"/>
          <p:nvPr/>
        </p:nvSpPr>
        <p:spPr>
          <a:xfrm>
            <a:off x="5999992" y="4146787"/>
            <a:ext cx="6325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sit nicely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4" name="Google Shape;574;p48"/>
          <p:cNvPicPr preferRelativeResize="0"/>
          <p:nvPr/>
        </p:nvPicPr>
        <p:blipFill rotWithShape="1">
          <a:blip r:embed="rId3">
            <a:alphaModFix/>
          </a:blip>
          <a:srcRect b="29504" l="7716" r="8320" t="21475"/>
          <a:stretch/>
        </p:blipFill>
        <p:spPr>
          <a:xfrm rot="5400000">
            <a:off x="3372200" y="1192761"/>
            <a:ext cx="5021125" cy="4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8" title="Ảnh chụp Màn hình 2025-08-15 lúc 13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941128" y="2164982"/>
            <a:ext cx="2262275" cy="2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8"/>
          <p:cNvSpPr txBox="1"/>
          <p:nvPr/>
        </p:nvSpPr>
        <p:spPr>
          <a:xfrm>
            <a:off x="6135950" y="4146775"/>
            <a:ext cx="618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listen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2" name="Google Shape;582;p49"/>
          <p:cNvPicPr preferRelativeResize="0"/>
          <p:nvPr/>
        </p:nvPicPr>
        <p:blipFill rotWithShape="1">
          <a:blip r:embed="rId3">
            <a:alphaModFix/>
          </a:blip>
          <a:srcRect b="22883" l="33903" r="34063" t="22147"/>
          <a:stretch/>
        </p:blipFill>
        <p:spPr>
          <a:xfrm rot="5400000">
            <a:off x="2648382" y="1977099"/>
            <a:ext cx="4245874" cy="40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9"/>
          <p:cNvPicPr preferRelativeResize="0"/>
          <p:nvPr/>
        </p:nvPicPr>
        <p:blipFill rotWithShape="1">
          <a:blip r:embed="rId4">
            <a:alphaModFix/>
          </a:blip>
          <a:srcRect b="14408" l="45320" r="39726" t="24305"/>
          <a:stretch/>
        </p:blipFill>
        <p:spPr>
          <a:xfrm rot="5400000">
            <a:off x="8520982" y="1095306"/>
            <a:ext cx="1777714" cy="40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9"/>
          <p:cNvSpPr txBox="1"/>
          <p:nvPr/>
        </p:nvSpPr>
        <p:spPr>
          <a:xfrm>
            <a:off x="7677446" y="4093874"/>
            <a:ext cx="3464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00" lIns="105600" spcFirstLastPara="1" rIns="105600" wrap="square" tIns="105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yes on me</a:t>
            </a:r>
            <a:endParaRPr sz="16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0" name="Google Shape;590;p50"/>
          <p:cNvPicPr preferRelativeResize="0"/>
          <p:nvPr/>
        </p:nvPicPr>
        <p:blipFill rotWithShape="1">
          <a:blip r:embed="rId3">
            <a:alphaModFix/>
          </a:blip>
          <a:srcRect b="13303" l="8726" r="10471" t="17189"/>
          <a:stretch/>
        </p:blipFill>
        <p:spPr>
          <a:xfrm rot="5400000">
            <a:off x="2138750" y="1535250"/>
            <a:ext cx="3958426" cy="4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0" title="Ảnh chụp Màn hình 2025-08-15 lúc 13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33850" y="1958547"/>
            <a:ext cx="2479184" cy="3239241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0"/>
          <p:cNvSpPr txBox="1"/>
          <p:nvPr/>
        </p:nvSpPr>
        <p:spPr>
          <a:xfrm>
            <a:off x="6101275" y="4607285"/>
            <a:ext cx="626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050" lIns="124050" spcFirstLastPara="1" rIns="124050" wrap="square" tIns="12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13">
                <a:latin typeface="Montserrat"/>
                <a:ea typeface="Montserrat"/>
                <a:cs typeface="Montserrat"/>
                <a:sym typeface="Montserrat"/>
              </a:rPr>
              <a:t>quiet</a:t>
            </a:r>
            <a:endParaRPr sz="27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数字拍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Shùzì pāi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8" name="Google Shape;598;p51" title="Thảo Tiên tham khảo (45).png"/>
          <p:cNvPicPr preferRelativeResize="0"/>
          <p:nvPr/>
        </p:nvPicPr>
        <p:blipFill rotWithShape="1">
          <a:blip r:embed="rId3">
            <a:alphaModFix/>
          </a:blip>
          <a:srcRect b="4576" l="7583" r="9539" t="65843"/>
          <a:stretch/>
        </p:blipFill>
        <p:spPr>
          <a:xfrm>
            <a:off x="1215379" y="1637182"/>
            <a:ext cx="9443350" cy="47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4" name="Google Shape;60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875" y="730652"/>
            <a:ext cx="7848249" cy="53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0" name="Google Shape;610;p53" title="水果闪卡 (1).png"/>
          <p:cNvPicPr preferRelativeResize="0"/>
          <p:nvPr/>
        </p:nvPicPr>
        <p:blipFill rotWithShape="1">
          <a:blip r:embed="rId3">
            <a:alphaModFix/>
          </a:blip>
          <a:srcRect b="76069" l="0" r="53507" t="0"/>
          <a:stretch/>
        </p:blipFill>
        <p:spPr>
          <a:xfrm>
            <a:off x="838201" y="1561775"/>
            <a:ext cx="5759925" cy="41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3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香蕉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12" name="Google Shape;612;p53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xiāngjiāo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8" name="Google Shape;618;p54" title="水果闪卡 (1).png"/>
          <p:cNvPicPr preferRelativeResize="0"/>
          <p:nvPr/>
        </p:nvPicPr>
        <p:blipFill rotWithShape="1">
          <a:blip r:embed="rId3">
            <a:alphaModFix/>
          </a:blip>
          <a:srcRect b="75656" l="53045" r="0" t="1438"/>
          <a:stretch/>
        </p:blipFill>
        <p:spPr>
          <a:xfrm>
            <a:off x="1004625" y="1690825"/>
            <a:ext cx="5691951" cy="392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4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苹果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20" name="Google Shape;620;p54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píngguǒ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5" title="水果闪卡 (1).png"/>
          <p:cNvPicPr preferRelativeResize="0"/>
          <p:nvPr/>
        </p:nvPicPr>
        <p:blipFill rotWithShape="1">
          <a:blip r:embed="rId3">
            <a:alphaModFix/>
          </a:blip>
          <a:srcRect b="50038" l="0" r="52805" t="26392"/>
          <a:stretch/>
        </p:blipFill>
        <p:spPr>
          <a:xfrm>
            <a:off x="838200" y="1517250"/>
            <a:ext cx="6170926" cy="4358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55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梨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28" name="Google Shape;628;p55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lí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4" name="Google Shape;634;p56" title="水果闪卡 (1).png"/>
          <p:cNvPicPr preferRelativeResize="0"/>
          <p:nvPr/>
        </p:nvPicPr>
        <p:blipFill rotWithShape="1">
          <a:blip r:embed="rId3">
            <a:alphaModFix/>
          </a:blip>
          <a:srcRect b="50270" l="50914" r="3475" t="27427"/>
          <a:stretch/>
        </p:blipFill>
        <p:spPr>
          <a:xfrm>
            <a:off x="838200" y="1690825"/>
            <a:ext cx="5849407" cy="40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6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橘子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36" name="Google Shape;636;p56"/>
          <p:cNvSpPr txBox="1"/>
          <p:nvPr/>
        </p:nvSpPr>
        <p:spPr>
          <a:xfrm>
            <a:off x="6930394" y="3748300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júzi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57" title="水果闪卡 (1).png"/>
          <p:cNvPicPr preferRelativeResize="0"/>
          <p:nvPr/>
        </p:nvPicPr>
        <p:blipFill rotWithShape="1">
          <a:blip r:embed="rId3">
            <a:alphaModFix/>
          </a:blip>
          <a:srcRect b="25299" l="0" r="51181" t="51235"/>
          <a:stretch/>
        </p:blipFill>
        <p:spPr>
          <a:xfrm>
            <a:off x="451567" y="1361500"/>
            <a:ext cx="6607823" cy="44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57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西瓜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44" name="Google Shape;644;p57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xīguā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0" name="Google Shape;650;p58" title="水果闪卡 (1).png"/>
          <p:cNvPicPr preferRelativeResize="0"/>
          <p:nvPr/>
        </p:nvPicPr>
        <p:blipFill rotWithShape="1">
          <a:blip r:embed="rId3">
            <a:alphaModFix/>
          </a:blip>
          <a:srcRect b="25531" l="54088" r="0" t="51451"/>
          <a:stretch/>
        </p:blipFill>
        <p:spPr>
          <a:xfrm>
            <a:off x="1349350" y="1584692"/>
            <a:ext cx="5201774" cy="36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58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草莓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52" name="Google Shape;652;p58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cǎoméi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59" title="水果闪卡 (1).png"/>
          <p:cNvPicPr preferRelativeResize="0"/>
          <p:nvPr/>
        </p:nvPicPr>
        <p:blipFill rotWithShape="1">
          <a:blip r:embed="rId3">
            <a:alphaModFix/>
          </a:blip>
          <a:srcRect b="772" l="2005" r="51129" t="75903"/>
          <a:stretch/>
        </p:blipFill>
        <p:spPr>
          <a:xfrm rot="5400000">
            <a:off x="1431626" y="1513638"/>
            <a:ext cx="5441574" cy="38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p59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葡萄</a:t>
            </a:r>
            <a:endParaRPr sz="1200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60" name="Google Shape;660;p59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pútao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60" title="Thảo Tiên tham khảo (32).png"/>
          <p:cNvPicPr preferRelativeResize="0"/>
          <p:nvPr/>
        </p:nvPicPr>
        <p:blipFill rotWithShape="1">
          <a:blip r:embed="rId3">
            <a:alphaModFix/>
          </a:blip>
          <a:srcRect b="53589" l="0" r="0" t="0"/>
          <a:stretch/>
        </p:blipFill>
        <p:spPr>
          <a:xfrm>
            <a:off x="2172296" y="1734250"/>
            <a:ext cx="7110405" cy="466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60" title="Thảo Tiên tham khảo (32).png"/>
          <p:cNvPicPr preferRelativeResize="0"/>
          <p:nvPr/>
        </p:nvPicPr>
        <p:blipFill rotWithShape="1">
          <a:blip r:embed="rId3">
            <a:alphaModFix/>
          </a:blip>
          <a:srcRect b="-1597" l="80154" r="0" t="51507"/>
          <a:stretch/>
        </p:blipFill>
        <p:spPr>
          <a:xfrm>
            <a:off x="735275" y="1378375"/>
            <a:ext cx="1437020" cy="51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投球入桶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Tóuqiú rù tǒng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8" name="Google Shape;66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4351" y="560854"/>
            <a:ext cx="3287648" cy="4246116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0"/>
          <p:cNvSpPr/>
          <p:nvPr/>
        </p:nvSpPr>
        <p:spPr>
          <a:xfrm>
            <a:off x="8904351" y="139525"/>
            <a:ext cx="1900500" cy="874500"/>
          </a:xfrm>
          <a:prstGeom prst="wedgeRoundRectCallout">
            <a:avLst>
              <a:gd fmla="val 44402" name="adj1"/>
              <a:gd fmla="val 106106" name="adj2"/>
              <a:gd fmla="val 0" name="adj3"/>
            </a:avLst>
          </a:prstGeom>
          <a:noFill/>
          <a:ln cap="flat" cmpd="sng" w="10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546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葡萄</a:t>
            </a:r>
            <a:r>
              <a:rPr lang="zh-CN" sz="2800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pútao</a:t>
            </a:r>
            <a:endParaRPr b="1" sz="2800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61" title="Thảo Tiên tham khảo (12).png"/>
          <p:cNvPicPr preferRelativeResize="0"/>
          <p:nvPr/>
        </p:nvPicPr>
        <p:blipFill rotWithShape="1">
          <a:blip r:embed="rId3">
            <a:alphaModFix/>
          </a:blip>
          <a:srcRect b="31701" l="0" r="0" t="38450"/>
          <a:stretch/>
        </p:blipFill>
        <p:spPr>
          <a:xfrm>
            <a:off x="-221300" y="1946100"/>
            <a:ext cx="9512126" cy="40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水果蹲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 dūn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677" name="Google Shape;677;p61"/>
          <p:cNvSpPr/>
          <p:nvPr/>
        </p:nvSpPr>
        <p:spPr>
          <a:xfrm>
            <a:off x="8850625" y="307333"/>
            <a:ext cx="1756500" cy="808200"/>
          </a:xfrm>
          <a:prstGeom prst="wedgeRoundRectCallout">
            <a:avLst>
              <a:gd fmla="val 41960" name="adj1"/>
              <a:gd fmla="val 10162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latin typeface="Montserrat"/>
                <a:ea typeface="Montserrat"/>
                <a:cs typeface="Montserrat"/>
                <a:sym typeface="Montserrat"/>
              </a:rPr>
              <a:t>xiāngjiāo </a:t>
            </a:r>
            <a:r>
              <a:rPr b="1" lang="zh-CN" sz="2100">
                <a:solidFill>
                  <a:srgbClr val="F5374C"/>
                </a:solidFill>
                <a:latin typeface="Montserrat"/>
                <a:ea typeface="Montserrat"/>
                <a:cs typeface="Montserrat"/>
                <a:sym typeface="Montserrat"/>
              </a:rPr>
              <a:t>dūn</a:t>
            </a:r>
            <a:endParaRPr b="1" sz="2100">
              <a:solidFill>
                <a:srgbClr val="F537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8" name="Google Shape;67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5696" y="4780709"/>
            <a:ext cx="586663" cy="423917"/>
          </a:xfrm>
          <a:prstGeom prst="rect">
            <a:avLst/>
          </a:prstGeom>
          <a:noFill/>
          <a:ln cap="flat" cmpd="sng" w="8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9" name="Google Shape;67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020" y="4591738"/>
            <a:ext cx="586663" cy="423917"/>
          </a:xfrm>
          <a:prstGeom prst="rect">
            <a:avLst/>
          </a:prstGeom>
          <a:noFill/>
          <a:ln cap="flat" cmpd="sng" w="8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0" name="Google Shape;68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1352" y="4853905"/>
            <a:ext cx="586663" cy="423917"/>
          </a:xfrm>
          <a:prstGeom prst="rect">
            <a:avLst/>
          </a:prstGeom>
          <a:noFill/>
          <a:ln cap="flat" cmpd="sng" w="8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1" name="Google Shape;68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2570" y="4016780"/>
            <a:ext cx="663719" cy="423917"/>
          </a:xfrm>
          <a:prstGeom prst="rect">
            <a:avLst/>
          </a:prstGeom>
          <a:noFill/>
          <a:ln cap="flat" cmpd="sng" w="8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2" name="Google Shape;682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5351" y="3174290"/>
            <a:ext cx="663720" cy="469942"/>
          </a:xfrm>
          <a:prstGeom prst="rect">
            <a:avLst/>
          </a:prstGeom>
          <a:noFill/>
          <a:ln cap="flat" cmpd="sng" w="8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3" name="Google Shape;683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18296" y="3981270"/>
            <a:ext cx="663719" cy="494940"/>
          </a:xfrm>
          <a:prstGeom prst="rect">
            <a:avLst/>
          </a:prstGeom>
          <a:noFill/>
          <a:ln cap="flat" cmpd="sng" w="8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4" name="Google Shape;684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59625" y="1333544"/>
            <a:ext cx="2901200" cy="49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水果蹲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Shuǐguǒ dūn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691" name="Google Shape;69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500" y="1575250"/>
            <a:ext cx="3056025" cy="45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2"/>
          <p:cNvSpPr txBox="1"/>
          <p:nvPr/>
        </p:nvSpPr>
        <p:spPr>
          <a:xfrm>
            <a:off x="7403350" y="2073903"/>
            <a:ext cx="3646200" cy="16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0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蹲</a:t>
            </a:r>
            <a:endParaRPr sz="12000">
              <a:solidFill>
                <a:srgbClr val="D14043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693" name="Google Shape;693;p62"/>
          <p:cNvSpPr txBox="1"/>
          <p:nvPr/>
        </p:nvSpPr>
        <p:spPr>
          <a:xfrm>
            <a:off x="7108994" y="3807825"/>
            <a:ext cx="45921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500">
                <a:solidFill>
                  <a:schemeClr val="dk1"/>
                </a:solidFill>
                <a:highlight>
                  <a:srgbClr val="FFFFFF"/>
                </a:highlight>
              </a:rPr>
              <a:t>dūn</a:t>
            </a:r>
            <a:endParaRPr sz="6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无敌大摆锤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Wúdí dà bǎi chuí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699" name="Google Shape;699;p63" title="Thảo Tiên tham khảo (31).png"/>
          <p:cNvPicPr preferRelativeResize="0"/>
          <p:nvPr/>
        </p:nvPicPr>
        <p:blipFill rotWithShape="1">
          <a:blip r:embed="rId3">
            <a:alphaModFix/>
          </a:blip>
          <a:srcRect b="5888" l="2664" r="18744" t="31533"/>
          <a:stretch/>
        </p:blipFill>
        <p:spPr>
          <a:xfrm>
            <a:off x="3984800" y="241500"/>
            <a:ext cx="5438601" cy="612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64"/>
          <p:cNvPicPr preferRelativeResize="0"/>
          <p:nvPr/>
        </p:nvPicPr>
        <p:blipFill rotWithShape="1">
          <a:blip r:embed="rId3">
            <a:alphaModFix/>
          </a:blip>
          <a:srcRect b="0" l="11039" r="0" t="0"/>
          <a:stretch/>
        </p:blipFill>
        <p:spPr>
          <a:xfrm>
            <a:off x="3206862" y="365125"/>
            <a:ext cx="6012138" cy="39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猜水果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Cāi shuǐguǒ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706" name="Google Shape;70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2788" y="3376100"/>
            <a:ext cx="3597501" cy="307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6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57500" y="4594225"/>
            <a:ext cx="1325700" cy="13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连一连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Lián yi lián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3" name="Google Shape;713;p65" title="Your paragraph text (16).png"/>
          <p:cNvPicPr preferRelativeResize="0"/>
          <p:nvPr/>
        </p:nvPicPr>
        <p:blipFill rotWithShape="1">
          <a:blip r:embed="rId3">
            <a:alphaModFix/>
          </a:blip>
          <a:srcRect b="16079" l="0" r="0" t="0"/>
          <a:stretch/>
        </p:blipFill>
        <p:spPr>
          <a:xfrm>
            <a:off x="2059913" y="232850"/>
            <a:ext cx="4809025" cy="5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65" title="水果闪卡 (2).png"/>
          <p:cNvPicPr preferRelativeResize="0"/>
          <p:nvPr/>
        </p:nvPicPr>
        <p:blipFill rotWithShape="1">
          <a:blip r:embed="rId4">
            <a:alphaModFix/>
          </a:blip>
          <a:srcRect b="6992" l="0" r="0" t="19709"/>
          <a:stretch/>
        </p:blipFill>
        <p:spPr>
          <a:xfrm>
            <a:off x="6868913" y="429750"/>
            <a:ext cx="5126213" cy="53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65" title="水果闪卡 (2).png"/>
          <p:cNvPicPr preferRelativeResize="0"/>
          <p:nvPr/>
        </p:nvPicPr>
        <p:blipFill rotWithShape="1">
          <a:blip r:embed="rId4">
            <a:alphaModFix/>
          </a:blip>
          <a:srcRect b="6992" l="0" r="0" t="19709"/>
          <a:stretch/>
        </p:blipFill>
        <p:spPr>
          <a:xfrm rot="-18">
            <a:off x="3956452" y="4576413"/>
            <a:ext cx="667009" cy="69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连一连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Lián yi lián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1" name="Google Shape;721;p66" title="水果闪卡 (2).png"/>
          <p:cNvPicPr preferRelativeResize="0"/>
          <p:nvPr/>
        </p:nvPicPr>
        <p:blipFill rotWithShape="1">
          <a:blip r:embed="rId3">
            <a:alphaModFix/>
          </a:blip>
          <a:srcRect b="6992" l="0" r="0" t="19709"/>
          <a:stretch/>
        </p:blipFill>
        <p:spPr>
          <a:xfrm>
            <a:off x="3180175" y="220800"/>
            <a:ext cx="5979951" cy="619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2" name="Google Shape;722;p66"/>
          <p:cNvCxnSpPr/>
          <p:nvPr/>
        </p:nvCxnSpPr>
        <p:spPr>
          <a:xfrm>
            <a:off x="5327278" y="717877"/>
            <a:ext cx="2007600" cy="43953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66"/>
          <p:cNvCxnSpPr/>
          <p:nvPr/>
        </p:nvCxnSpPr>
        <p:spPr>
          <a:xfrm>
            <a:off x="5297361" y="1603464"/>
            <a:ext cx="2047200" cy="43767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66"/>
          <p:cNvCxnSpPr/>
          <p:nvPr/>
        </p:nvCxnSpPr>
        <p:spPr>
          <a:xfrm flipH="1" rot="10800000">
            <a:off x="5334943" y="1640883"/>
            <a:ext cx="2009700" cy="8454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66"/>
          <p:cNvCxnSpPr/>
          <p:nvPr/>
        </p:nvCxnSpPr>
        <p:spPr>
          <a:xfrm>
            <a:off x="5334943" y="3369075"/>
            <a:ext cx="2047200" cy="8640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66"/>
          <p:cNvCxnSpPr/>
          <p:nvPr/>
        </p:nvCxnSpPr>
        <p:spPr>
          <a:xfrm flipH="1" rot="10800000">
            <a:off x="5353709" y="3356349"/>
            <a:ext cx="2009700" cy="9018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66"/>
          <p:cNvCxnSpPr/>
          <p:nvPr/>
        </p:nvCxnSpPr>
        <p:spPr>
          <a:xfrm flipH="1">
            <a:off x="5316185" y="739437"/>
            <a:ext cx="2066100" cy="43953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66"/>
          <p:cNvCxnSpPr/>
          <p:nvPr/>
        </p:nvCxnSpPr>
        <p:spPr>
          <a:xfrm flipH="1">
            <a:off x="5353685" y="2492538"/>
            <a:ext cx="2028600" cy="3493800"/>
          </a:xfrm>
          <a:prstGeom prst="straightConnector1">
            <a:avLst/>
          </a:prstGeom>
          <a:noFill/>
          <a:ln cap="flat" cmpd="sng" w="97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总结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Zǒng jié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4" name="Google Shape;734;p67" title="水果闪卡 (1).png"/>
          <p:cNvPicPr preferRelativeResize="0"/>
          <p:nvPr/>
        </p:nvPicPr>
        <p:blipFill rotWithShape="1">
          <a:blip r:embed="rId3">
            <a:alphaModFix/>
          </a:blip>
          <a:srcRect b="25531" l="54088" r="0" t="51451"/>
          <a:stretch/>
        </p:blipFill>
        <p:spPr>
          <a:xfrm>
            <a:off x="8688700" y="290831"/>
            <a:ext cx="2746974" cy="194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5" name="Google Shape;735;p67"/>
          <p:cNvGrpSpPr/>
          <p:nvPr/>
        </p:nvGrpSpPr>
        <p:grpSpPr>
          <a:xfrm>
            <a:off x="9337838" y="2255441"/>
            <a:ext cx="1448700" cy="923173"/>
            <a:chOff x="7109000" y="4077374"/>
            <a:chExt cx="1448700" cy="923173"/>
          </a:xfrm>
        </p:grpSpPr>
        <p:sp>
          <p:nvSpPr>
            <p:cNvPr id="736" name="Google Shape;736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草莓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37" name="Google Shape;737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cǎoméi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738" name="Google Shape;738;p67" title="水果闪卡 (1).png"/>
          <p:cNvPicPr preferRelativeResize="0"/>
          <p:nvPr/>
        </p:nvPicPr>
        <p:blipFill rotWithShape="1">
          <a:blip r:embed="rId3">
            <a:alphaModFix/>
          </a:blip>
          <a:srcRect b="76069" l="0" r="53507" t="0"/>
          <a:stretch/>
        </p:blipFill>
        <p:spPr>
          <a:xfrm>
            <a:off x="511839" y="3634253"/>
            <a:ext cx="2318451" cy="168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67" title="水果闪卡 (1).png"/>
          <p:cNvPicPr preferRelativeResize="0"/>
          <p:nvPr/>
        </p:nvPicPr>
        <p:blipFill rotWithShape="1">
          <a:blip r:embed="rId3">
            <a:alphaModFix/>
          </a:blip>
          <a:srcRect b="75656" l="53045" r="0" t="1438"/>
          <a:stretch/>
        </p:blipFill>
        <p:spPr>
          <a:xfrm>
            <a:off x="2730023" y="366594"/>
            <a:ext cx="2603602" cy="17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67" title="水果闪卡 (1).png"/>
          <p:cNvPicPr preferRelativeResize="0"/>
          <p:nvPr/>
        </p:nvPicPr>
        <p:blipFill rotWithShape="1">
          <a:blip r:embed="rId3">
            <a:alphaModFix/>
          </a:blip>
          <a:srcRect b="50038" l="0" r="52805" t="26392"/>
          <a:stretch/>
        </p:blipFill>
        <p:spPr>
          <a:xfrm>
            <a:off x="5977682" y="3406000"/>
            <a:ext cx="2746974" cy="194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7" title="水果闪卡 (1).png"/>
          <p:cNvPicPr preferRelativeResize="0"/>
          <p:nvPr/>
        </p:nvPicPr>
        <p:blipFill rotWithShape="1">
          <a:blip r:embed="rId3">
            <a:alphaModFix/>
          </a:blip>
          <a:srcRect b="50270" l="50914" r="3475" t="27427"/>
          <a:stretch/>
        </p:blipFill>
        <p:spPr>
          <a:xfrm>
            <a:off x="5675525" y="178864"/>
            <a:ext cx="2816561" cy="19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67" title="水果闪卡 (1).png"/>
          <p:cNvPicPr preferRelativeResize="0"/>
          <p:nvPr/>
        </p:nvPicPr>
        <p:blipFill rotWithShape="1">
          <a:blip r:embed="rId3">
            <a:alphaModFix/>
          </a:blip>
          <a:srcRect b="772" l="2005" r="51129" t="75903"/>
          <a:stretch/>
        </p:blipFill>
        <p:spPr>
          <a:xfrm rot="5400000">
            <a:off x="3639103" y="3588551"/>
            <a:ext cx="2125026" cy="14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67" title="水果闪卡 (1).png"/>
          <p:cNvPicPr preferRelativeResize="0"/>
          <p:nvPr/>
        </p:nvPicPr>
        <p:blipFill rotWithShape="1">
          <a:blip r:embed="rId3">
            <a:alphaModFix/>
          </a:blip>
          <a:srcRect b="25178" l="4626" r="58654" t="51074"/>
          <a:stretch/>
        </p:blipFill>
        <p:spPr>
          <a:xfrm>
            <a:off x="9198800" y="3417722"/>
            <a:ext cx="2155000" cy="197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4" name="Google Shape;744;p67"/>
          <p:cNvGrpSpPr/>
          <p:nvPr/>
        </p:nvGrpSpPr>
        <p:grpSpPr>
          <a:xfrm>
            <a:off x="3307463" y="2162991"/>
            <a:ext cx="1448700" cy="923173"/>
            <a:chOff x="7109000" y="4077374"/>
            <a:chExt cx="1448700" cy="923173"/>
          </a:xfrm>
        </p:grpSpPr>
        <p:sp>
          <p:nvSpPr>
            <p:cNvPr id="745" name="Google Shape;745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苹果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46" name="Google Shape;746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píngguǒ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47" name="Google Shape;747;p67"/>
          <p:cNvGrpSpPr/>
          <p:nvPr/>
        </p:nvGrpSpPr>
        <p:grpSpPr>
          <a:xfrm>
            <a:off x="6322650" y="2143473"/>
            <a:ext cx="1448700" cy="923173"/>
            <a:chOff x="7109000" y="4077374"/>
            <a:chExt cx="1448700" cy="923173"/>
          </a:xfrm>
        </p:grpSpPr>
        <p:sp>
          <p:nvSpPr>
            <p:cNvPr id="748" name="Google Shape;748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橘子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49" name="Google Shape;749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júzi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50" name="Google Shape;750;p67"/>
          <p:cNvGrpSpPr/>
          <p:nvPr/>
        </p:nvGrpSpPr>
        <p:grpSpPr>
          <a:xfrm>
            <a:off x="946702" y="5346366"/>
            <a:ext cx="1448700" cy="923173"/>
            <a:chOff x="7109000" y="4077374"/>
            <a:chExt cx="1448700" cy="923173"/>
          </a:xfrm>
        </p:grpSpPr>
        <p:sp>
          <p:nvSpPr>
            <p:cNvPr id="751" name="Google Shape;751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香蕉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52" name="Google Shape;752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xiāngjiāo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53" name="Google Shape;753;p67"/>
          <p:cNvGrpSpPr/>
          <p:nvPr/>
        </p:nvGrpSpPr>
        <p:grpSpPr>
          <a:xfrm>
            <a:off x="3919491" y="5346366"/>
            <a:ext cx="1448700" cy="923173"/>
            <a:chOff x="7109000" y="4077374"/>
            <a:chExt cx="1448700" cy="923173"/>
          </a:xfrm>
        </p:grpSpPr>
        <p:sp>
          <p:nvSpPr>
            <p:cNvPr id="754" name="Google Shape;754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葡萄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55" name="Google Shape;755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pútao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56" name="Google Shape;756;p67"/>
          <p:cNvGrpSpPr/>
          <p:nvPr/>
        </p:nvGrpSpPr>
        <p:grpSpPr>
          <a:xfrm>
            <a:off x="6775306" y="5346366"/>
            <a:ext cx="1448700" cy="923173"/>
            <a:chOff x="7109000" y="4077374"/>
            <a:chExt cx="1448700" cy="923173"/>
          </a:xfrm>
        </p:grpSpPr>
        <p:sp>
          <p:nvSpPr>
            <p:cNvPr id="757" name="Google Shape;757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梨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58" name="Google Shape;758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lí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59" name="Google Shape;759;p67"/>
          <p:cNvGrpSpPr/>
          <p:nvPr/>
        </p:nvGrpSpPr>
        <p:grpSpPr>
          <a:xfrm>
            <a:off x="9702332" y="5413208"/>
            <a:ext cx="1448700" cy="923173"/>
            <a:chOff x="7109000" y="4077374"/>
            <a:chExt cx="1448700" cy="923173"/>
          </a:xfrm>
        </p:grpSpPr>
        <p:sp>
          <p:nvSpPr>
            <p:cNvPr id="760" name="Google Shape;760;p67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西瓜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761" name="Google Shape;761;p67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xīguā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8"/>
          <p:cNvSpPr txBox="1"/>
          <p:nvPr/>
        </p:nvSpPr>
        <p:spPr>
          <a:xfrm>
            <a:off x="5082875" y="2432775"/>
            <a:ext cx="78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再见！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3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Zàijiàn!</a:t>
            </a:r>
            <a:endParaRPr b="1" sz="3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